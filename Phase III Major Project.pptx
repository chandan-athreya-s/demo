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6" r:id="rId1"/>
    <p:sldMasterId id="2147483667" r:id="rId2"/>
    <p:sldMasterId id="2147483669" r:id="rId3"/>
  </p:sldMasterIdLst>
  <p:notesMasterIdLst>
    <p:notesMasterId r:id="rId22"/>
  </p:notesMasterIdLst>
  <p:sldIdLst>
    <p:sldId id="273" r:id="rId4"/>
    <p:sldId id="257" r:id="rId5"/>
    <p:sldId id="258" r:id="rId6"/>
    <p:sldId id="274" r:id="rId7"/>
    <p:sldId id="261" r:id="rId8"/>
    <p:sldId id="275" r:id="rId9"/>
    <p:sldId id="276" r:id="rId10"/>
    <p:sldId id="277" r:id="rId11"/>
    <p:sldId id="278" r:id="rId12"/>
    <p:sldId id="263" r:id="rId13"/>
    <p:sldId id="279" r:id="rId14"/>
    <p:sldId id="282" r:id="rId15"/>
    <p:sldId id="280" r:id="rId16"/>
    <p:sldId id="281" r:id="rId17"/>
    <p:sldId id="265" r:id="rId18"/>
    <p:sldId id="266" r:id="rId19"/>
    <p:sldId id="269" r:id="rId20"/>
    <p:sldId id="267" r:id="rId21"/>
  </p:sldIdLst>
  <p:sldSz cx="20104100" cy="11309350"/>
  <p:notesSz cx="20104100" cy="11309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52606D-4831-4270-B2F6-B2B70CEFDC25}">
  <a:tblStyle styleId="{7452606D-4831-4270-B2F6-B2B70CEFDC2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tcBdr/>
        <a:fill>
          <a:solidFill>
            <a:srgbClr val="CDD8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8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387" y="4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0" name="Google Shape;150;p2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9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52794AAC-AE88-CECE-CF4D-6ED6E053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>
            <a:extLst>
              <a:ext uri="{FF2B5EF4-FFF2-40B4-BE49-F238E27FC236}">
                <a16:creationId xmlns:a16="http://schemas.microsoft.com/office/drawing/2014/main" id="{E29AFB22-3D38-0A9B-677A-F7C8713E6B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0" name="Google Shape;190;p6:notes">
            <a:extLst>
              <a:ext uri="{FF2B5EF4-FFF2-40B4-BE49-F238E27FC236}">
                <a16:creationId xmlns:a16="http://schemas.microsoft.com/office/drawing/2014/main" id="{B662F6D8-FB3D-47D4-7ACE-3F0CF1036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>
            <a:extLst>
              <a:ext uri="{FF2B5EF4-FFF2-40B4-BE49-F238E27FC236}">
                <a16:creationId xmlns:a16="http://schemas.microsoft.com/office/drawing/2014/main" id="{03EC9A60-ED3B-F085-FF06-A3DD4A773A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874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9CA8FF8F-B220-4CDB-3CCF-095013B4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>
            <a:extLst>
              <a:ext uri="{FF2B5EF4-FFF2-40B4-BE49-F238E27FC236}">
                <a16:creationId xmlns:a16="http://schemas.microsoft.com/office/drawing/2014/main" id="{BBFE646B-8B93-CF29-D277-419AFCD91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0" name="Google Shape;190;p6:notes">
            <a:extLst>
              <a:ext uri="{FF2B5EF4-FFF2-40B4-BE49-F238E27FC236}">
                <a16:creationId xmlns:a16="http://schemas.microsoft.com/office/drawing/2014/main" id="{C6767FC9-75C0-C563-C272-FF11E0947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>
            <a:extLst>
              <a:ext uri="{FF2B5EF4-FFF2-40B4-BE49-F238E27FC236}">
                <a16:creationId xmlns:a16="http://schemas.microsoft.com/office/drawing/2014/main" id="{4FA99D32-5820-4B9B-052D-124ECD2BD4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1653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C9F69DE7-F464-F138-ACBE-EEA5FC0E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>
            <a:extLst>
              <a:ext uri="{FF2B5EF4-FFF2-40B4-BE49-F238E27FC236}">
                <a16:creationId xmlns:a16="http://schemas.microsoft.com/office/drawing/2014/main" id="{94ABF26D-6647-CC33-22F3-6631515A1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0" name="Google Shape;190;p6:notes">
            <a:extLst>
              <a:ext uri="{FF2B5EF4-FFF2-40B4-BE49-F238E27FC236}">
                <a16:creationId xmlns:a16="http://schemas.microsoft.com/office/drawing/2014/main" id="{951D78EB-D207-1F38-0A82-1FE5CC6F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>
            <a:extLst>
              <a:ext uri="{FF2B5EF4-FFF2-40B4-BE49-F238E27FC236}">
                <a16:creationId xmlns:a16="http://schemas.microsoft.com/office/drawing/2014/main" id="{3EB23B58-6E58-DD23-5A06-3A98F15C14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9533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FA07907D-E2E2-A3E3-1F1C-1CB55BED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>
            <a:extLst>
              <a:ext uri="{FF2B5EF4-FFF2-40B4-BE49-F238E27FC236}">
                <a16:creationId xmlns:a16="http://schemas.microsoft.com/office/drawing/2014/main" id="{71398E1D-BAB6-C78E-0DA8-ECC8AA9B3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1" name="Google Shape;201;p7:notes">
            <a:extLst>
              <a:ext uri="{FF2B5EF4-FFF2-40B4-BE49-F238E27FC236}">
                <a16:creationId xmlns:a16="http://schemas.microsoft.com/office/drawing/2014/main" id="{CEBC82BF-38EF-7019-718D-30DE1B1E44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>
            <a:extLst>
              <a:ext uri="{FF2B5EF4-FFF2-40B4-BE49-F238E27FC236}">
                <a16:creationId xmlns:a16="http://schemas.microsoft.com/office/drawing/2014/main" id="{263DAF81-565D-F009-B725-A2D14378E5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3298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B424096A-FC75-38C8-B890-8D432738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24116FE8-AADE-AFE9-2919-04F25B0D1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1" name="Google Shape;211;p8:notes">
            <a:extLst>
              <a:ext uri="{FF2B5EF4-FFF2-40B4-BE49-F238E27FC236}">
                <a16:creationId xmlns:a16="http://schemas.microsoft.com/office/drawing/2014/main" id="{FBDCD0D1-242C-CA7C-ABFA-6FDDCCA67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>
            <a:extLst>
              <a:ext uri="{FF2B5EF4-FFF2-40B4-BE49-F238E27FC236}">
                <a16:creationId xmlns:a16="http://schemas.microsoft.com/office/drawing/2014/main" id="{501ABE6F-687C-6ECC-308D-8184BBD2FC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8602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CFDC37CC-6488-CD29-57A4-368C67AB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614FD7E8-1B01-9C43-551B-565B2D541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1" name="Google Shape;211;p8:notes">
            <a:extLst>
              <a:ext uri="{FF2B5EF4-FFF2-40B4-BE49-F238E27FC236}">
                <a16:creationId xmlns:a16="http://schemas.microsoft.com/office/drawing/2014/main" id="{BF2ED37A-E55A-C435-EAF8-C6CF3CABC1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>
            <a:extLst>
              <a:ext uri="{FF2B5EF4-FFF2-40B4-BE49-F238E27FC236}">
                <a16:creationId xmlns:a16="http://schemas.microsoft.com/office/drawing/2014/main" id="{02057F5B-A85E-A146-58B5-49F31B01CD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88656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9186D2CA-4671-7AE1-C34C-C1819449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6F3A48DE-26F9-F524-8FB0-4ADD87EE3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1" name="Google Shape;211;p8:notes">
            <a:extLst>
              <a:ext uri="{FF2B5EF4-FFF2-40B4-BE49-F238E27FC236}">
                <a16:creationId xmlns:a16="http://schemas.microsoft.com/office/drawing/2014/main" id="{874AE97B-573F-62CD-6AEF-444723CC1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>
            <a:extLst>
              <a:ext uri="{FF2B5EF4-FFF2-40B4-BE49-F238E27FC236}">
                <a16:creationId xmlns:a16="http://schemas.microsoft.com/office/drawing/2014/main" id="{E3967743-4972-53F7-173C-CE1BD8D226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6872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2959DE38-B6D0-3E2C-C7EA-EA33356A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>
            <a:extLst>
              <a:ext uri="{FF2B5EF4-FFF2-40B4-BE49-F238E27FC236}">
                <a16:creationId xmlns:a16="http://schemas.microsoft.com/office/drawing/2014/main" id="{379045B5-6E24-02AB-008C-0D85E062B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1" name="Google Shape;211;p8:notes">
            <a:extLst>
              <a:ext uri="{FF2B5EF4-FFF2-40B4-BE49-F238E27FC236}">
                <a16:creationId xmlns:a16="http://schemas.microsoft.com/office/drawing/2014/main" id="{2370050D-F900-7D4C-B916-E4DE07E5D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>
            <a:extLst>
              <a:ext uri="{FF2B5EF4-FFF2-40B4-BE49-F238E27FC236}">
                <a16:creationId xmlns:a16="http://schemas.microsoft.com/office/drawing/2014/main" id="{7702D232-9B52-9EBA-75FC-7FDD506363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0413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8837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6150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4" name="Google Shape;164;p15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2009775" y="5372100"/>
            <a:ext cx="16084550" cy="508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607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861152" y="2054087"/>
            <a:ext cx="18732431" cy="125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74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556424" y="4084427"/>
            <a:ext cx="18732431" cy="751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3115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>
            <a:spLocks noGrp="1"/>
          </p:cNvSpPr>
          <p:nvPr>
            <p:ph type="title" hasCustomPrompt="1"/>
          </p:nvPr>
        </p:nvSpPr>
        <p:spPr>
          <a:xfrm>
            <a:off x="685307" y="2432109"/>
            <a:ext cx="18733486" cy="431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26383"/>
            </a:lvl9pPr>
          </a:lstStyle>
          <a:p>
            <a:r>
              <a:t>xx%</a:t>
            </a:r>
          </a:p>
        </p:txBody>
      </p:sp>
      <p:sp>
        <p:nvSpPr>
          <p:cNvPr id="12" name="Google Shape;12;p12"/>
          <p:cNvSpPr txBox="1">
            <a:spLocks noGrp="1"/>
          </p:cNvSpPr>
          <p:nvPr>
            <p:ph type="body" idx="1"/>
          </p:nvPr>
        </p:nvSpPr>
        <p:spPr>
          <a:xfrm>
            <a:off x="685307" y="6931003"/>
            <a:ext cx="18733486" cy="2860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1005200" lvl="0" indent="-753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2010400" lvl="1" indent="-69805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3015600" lvl="2" indent="-69805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4020800" lvl="3" indent="-69805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5026000" lvl="4" indent="-69805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6031200" lvl="5" indent="-69805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7036399" lvl="6" indent="-69805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8041599" lvl="7" indent="-69805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9046799" lvl="8" indent="-69805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ldNum" idx="12"/>
          </p:nvPr>
        </p:nvSpPr>
        <p:spPr>
          <a:xfrm>
            <a:off x="18627640" y="10253320"/>
            <a:ext cx="1206378" cy="86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85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861152" y="2054087"/>
            <a:ext cx="18732431" cy="125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74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1"/>
          </p:nvPr>
        </p:nvSpPr>
        <p:spPr>
          <a:xfrm>
            <a:off x="556424" y="4084427"/>
            <a:ext cx="18732431" cy="751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0035" algn="l">
              <a:lnSpc>
                <a:spcPct val="90000"/>
              </a:lnSpc>
              <a:spcBef>
                <a:spcPts val="3115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929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900" y="474934"/>
            <a:ext cx="3314011" cy="142400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61152" y="2054087"/>
            <a:ext cx="18732431" cy="125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74"/>
              <a:buFont typeface="Arial"/>
              <a:buNone/>
              <a:defRPr sz="967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556424" y="4084427"/>
            <a:ext cx="18732431" cy="751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404507" algn="l" rtl="0">
              <a:lnSpc>
                <a:spcPct val="90000"/>
              </a:lnSpc>
              <a:spcBef>
                <a:spcPts val="3115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Noto Sans Symbols"/>
              <a:buChar char="●"/>
              <a:defRPr sz="61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6368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277"/>
              <a:buFont typeface="Arial"/>
              <a:buChar char="•"/>
              <a:defRPr sz="52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0780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4397"/>
              <a:buFont typeface="Arial"/>
              <a:buChar char="•"/>
              <a:defRPr sz="43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54309" y="912663"/>
            <a:ext cx="4339003" cy="65936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900" y="474934"/>
            <a:ext cx="3314011" cy="14240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"/>
          <p:cNvSpPr txBox="1">
            <a:spLocks noGrp="1"/>
          </p:cNvSpPr>
          <p:nvPr>
            <p:ph type="title"/>
          </p:nvPr>
        </p:nvSpPr>
        <p:spPr>
          <a:xfrm>
            <a:off x="685439" y="1636937"/>
            <a:ext cx="18732431" cy="45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74"/>
              <a:buFont typeface="Arial"/>
              <a:buNone/>
              <a:defRPr sz="967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4230" y="10400248"/>
            <a:ext cx="4874849" cy="74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6"/>
          <p:cNvSpPr txBox="1">
            <a:spLocks noGrp="1"/>
          </p:cNvSpPr>
          <p:nvPr>
            <p:ph type="body" idx="1"/>
          </p:nvPr>
        </p:nvSpPr>
        <p:spPr>
          <a:xfrm>
            <a:off x="1005205" y="2646170"/>
            <a:ext cx="18092899" cy="6558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4507" algn="l" rtl="0">
              <a:lnSpc>
                <a:spcPct val="90000"/>
              </a:lnSpc>
              <a:spcBef>
                <a:spcPts val="3115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Noto Sans Symbols"/>
              <a:buChar char="●"/>
              <a:defRPr sz="61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6368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277"/>
              <a:buFont typeface="Arial"/>
              <a:buChar char="•"/>
              <a:defRPr sz="52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0780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4397"/>
              <a:buFont typeface="Arial"/>
              <a:buChar char="•"/>
              <a:defRPr sz="43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10703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900" y="474934"/>
            <a:ext cx="3314011" cy="142400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861152" y="2054087"/>
            <a:ext cx="18732431" cy="125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74"/>
              <a:buFont typeface="Arial"/>
              <a:buNone/>
              <a:defRPr sz="967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556424" y="4084427"/>
            <a:ext cx="18732431" cy="7511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404507" algn="l" rtl="0">
              <a:lnSpc>
                <a:spcPct val="90000"/>
              </a:lnSpc>
              <a:spcBef>
                <a:spcPts val="3115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Noto Sans Symbols"/>
              <a:buChar char="●"/>
              <a:defRPr sz="61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6368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277"/>
              <a:buFont typeface="Arial"/>
              <a:buChar char="•"/>
              <a:defRPr sz="527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0780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4397"/>
              <a:buFont typeface="Arial"/>
              <a:buChar char="•"/>
              <a:defRPr sz="43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79869" algn="l" rtl="0">
              <a:lnSpc>
                <a:spcPct val="90000"/>
              </a:lnSpc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3957"/>
              <a:buFont typeface="Arial"/>
              <a:buChar char="•"/>
              <a:defRPr sz="39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199"/>
              <a:buFont typeface="Arial"/>
              <a:buNone/>
              <a:defRPr sz="2199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" name="Google Shape;25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54309" y="912663"/>
            <a:ext cx="4339003" cy="6593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56998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>
            <a:spLocks noGrp="1"/>
          </p:cNvSpPr>
          <p:nvPr>
            <p:ph type="title"/>
          </p:nvPr>
        </p:nvSpPr>
        <p:spPr>
          <a:xfrm>
            <a:off x="4162395" y="550489"/>
            <a:ext cx="12581205" cy="1436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8" tIns="201008" rIns="201008" bIns="201008" anchor="b" anchorCtr="0">
            <a:noAutofit/>
          </a:bodyPr>
          <a:lstStyle/>
          <a:p>
            <a:r>
              <a:rPr lang="en-IN" sz="879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– MCA491P</a:t>
            </a:r>
            <a:endParaRPr lang="en-IN" sz="1759" dirty="0"/>
          </a:p>
        </p:txBody>
      </p:sp>
      <p:sp>
        <p:nvSpPr>
          <p:cNvPr id="25" name="Google Shape;25;p1"/>
          <p:cNvSpPr txBox="1">
            <a:spLocks noGrp="1"/>
          </p:cNvSpPr>
          <p:nvPr>
            <p:ph type="body" idx="1"/>
          </p:nvPr>
        </p:nvSpPr>
        <p:spPr>
          <a:xfrm>
            <a:off x="2413117" y="1781666"/>
            <a:ext cx="15277866" cy="8342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8" tIns="201008" rIns="201008" bIns="201008" anchor="t" anchorCtr="0">
            <a:noAutofit/>
          </a:bodyPr>
          <a:lstStyle/>
          <a:p>
            <a:pPr marL="251696">
              <a:buNone/>
              <a:tabLst>
                <a:tab pos="0" algn="l"/>
              </a:tabLst>
            </a:pPr>
            <a:r>
              <a:rPr lang="en-US" sz="4800" spc="-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endParaRPr lang="en-IN" sz="4800" spc="-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696">
              <a:buNone/>
              <a:tabLst>
                <a:tab pos="0" algn="l"/>
              </a:tabLst>
            </a:pPr>
            <a:r>
              <a:rPr lang="en-IN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File Integrity System</a:t>
            </a:r>
            <a:endParaRPr lang="en-IN" sz="5400" b="1" spc="-2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300" indent="0">
              <a:buSzPct val="108108"/>
              <a:buNone/>
            </a:pPr>
            <a:endParaRPr lang="en-IN" sz="3078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251300" indent="0">
              <a:buSzPct val="108108"/>
              <a:buNone/>
            </a:pPr>
            <a:r>
              <a:rPr lang="en-IN" sz="307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1RV24MC023</a:t>
            </a:r>
            <a:endParaRPr sz="3078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300" indent="0">
              <a:buSzPct val="108108"/>
              <a:buNone/>
            </a:pPr>
            <a:r>
              <a:rPr lang="en-IN" sz="3078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 T ULLAS</a:t>
            </a:r>
          </a:p>
          <a:p>
            <a:pPr marL="251300" indent="0">
              <a:buSzPct val="108108"/>
              <a:buNone/>
            </a:pPr>
            <a:endParaRPr sz="3078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300" indent="0">
              <a:buSzPct val="108108"/>
              <a:buNone/>
            </a:pPr>
            <a:r>
              <a:rPr lang="en-IN" sz="3078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the Guidance </a:t>
            </a:r>
            <a:endParaRPr sz="3078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300" indent="0">
              <a:buSzPct val="108108"/>
              <a:buNone/>
            </a:pPr>
            <a:r>
              <a:rPr lang="en-IN" sz="3078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Of</a:t>
            </a:r>
          </a:p>
          <a:p>
            <a:pPr marL="251300" indent="0">
              <a:buSzPct val="108108"/>
              <a:buNone/>
            </a:pPr>
            <a:endParaRPr lang="en-IN" sz="3078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1300" indent="0">
              <a:buNone/>
            </a:pPr>
            <a:r>
              <a:rPr lang="en-IN" sz="307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Divya T.L</a:t>
            </a:r>
          </a:p>
          <a:p>
            <a:pPr marL="251300" indent="0">
              <a:buNone/>
            </a:pPr>
            <a:r>
              <a:rPr lang="en-IN" sz="307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251300" indent="0">
              <a:buNone/>
            </a:pPr>
            <a:r>
              <a:rPr lang="en-IN" sz="3078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MCA</a:t>
            </a:r>
          </a:p>
          <a:p>
            <a:pPr marL="251300" indent="0">
              <a:buNone/>
            </a:pPr>
            <a:r>
              <a:rPr lang="en-IN" sz="3078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 V College of Engineering</a:t>
            </a:r>
          </a:p>
          <a:p>
            <a:pPr marL="0" indent="1005200" algn="l">
              <a:buSzPct val="108108"/>
              <a:buNone/>
            </a:pPr>
            <a:endParaRPr lang="en-IN" sz="3078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87061" y="10267468"/>
            <a:ext cx="19529979" cy="982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1008" tIns="201008" rIns="201008" bIns="201008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tabLst/>
              <a:defRPr/>
            </a:pPr>
            <a:r>
              <a:rPr kumimoji="0" lang="en-IN" sz="3518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Date:23/05/2026                                                                                                 Department of MCA, RVCE </a:t>
            </a:r>
            <a:endParaRPr kumimoji="0" sz="3078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</a:rPr>
              <a:t>2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904368" y="3036516"/>
            <a:ext cx="18527712" cy="737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marR="0" lvl="0" indent="-216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IN" sz="4000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  <a:t>Introduction </a:t>
            </a:r>
            <a:endParaRPr dirty="0">
              <a:solidFill>
                <a:schemeClr val="tx1"/>
              </a:solidFill>
              <a:latin typeface="+mn-lt"/>
            </a:endParaRPr>
          </a:p>
          <a:p>
            <a:pPr marL="216000" marR="0" lvl="0" indent="-216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IN" sz="4000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  <a:t>Implementation </a:t>
            </a:r>
            <a:endParaRPr dirty="0">
              <a:solidFill>
                <a:schemeClr val="tx1"/>
              </a:solidFill>
              <a:latin typeface="+mn-lt"/>
            </a:endParaRPr>
          </a:p>
          <a:p>
            <a:pPr marL="216000" marR="0" lvl="0" indent="-216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IN" sz="4000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  <a:t>Testing </a:t>
            </a:r>
          </a:p>
          <a:p>
            <a:pPr marL="216000" marR="0" lvl="0" indent="-216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IN" sz="4000" dirty="0">
                <a:solidFill>
                  <a:schemeClr val="tx1"/>
                </a:solidFill>
                <a:latin typeface="+mn-lt"/>
                <a:cs typeface="Times New Roman"/>
                <a:sym typeface="Times New Roman"/>
              </a:rPr>
              <a:t>Results</a:t>
            </a:r>
            <a:endParaRPr dirty="0">
              <a:solidFill>
                <a:schemeClr val="tx1"/>
              </a:solidFill>
              <a:latin typeface="+mn-lt"/>
            </a:endParaRPr>
          </a:p>
          <a:p>
            <a:pPr marL="216000" marR="0" lvl="0" indent="-216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IN" sz="4000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  <a:t>Conclusion   </a:t>
            </a:r>
            <a:endParaRPr dirty="0">
              <a:solidFill>
                <a:schemeClr val="tx1"/>
              </a:solidFill>
              <a:latin typeface="+mn-lt"/>
            </a:endParaRPr>
          </a:p>
          <a:p>
            <a:pPr marL="216000" marR="0" lvl="0" indent="-216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IN" sz="4000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marL="216000" marR="0" lvl="0" indent="-216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IN" sz="4000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  <a:t>Details of Publication Status</a:t>
            </a:r>
          </a:p>
          <a:p>
            <a:pPr marL="216000" marR="0" lvl="0" indent="-2160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5104909" y="712788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chemeClr val="tx1"/>
                </a:solidFill>
                <a:latin typeface="+mj-lt"/>
                <a:ea typeface="Times New Roman"/>
                <a:cs typeface="Times New Roman"/>
                <a:sym typeface="Times New Roman"/>
              </a:rPr>
              <a:t>Agenda</a:t>
            </a:r>
            <a:endParaRPr b="1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67" name="Google Shape;167;p28"/>
          <p:cNvSpPr txBox="1"/>
          <p:nvPr/>
        </p:nvSpPr>
        <p:spPr>
          <a:xfrm>
            <a:off x="5312298" y="884401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-IN" sz="4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Objectives 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4956D-2B6F-9C59-7CD2-623AE67C4634}"/>
              </a:ext>
            </a:extLst>
          </p:cNvPr>
          <p:cNvSpPr txBox="1"/>
          <p:nvPr/>
        </p:nvSpPr>
        <p:spPr>
          <a:xfrm>
            <a:off x="844125" y="2491037"/>
            <a:ext cx="18566680" cy="8299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project focuses on secure and tamper-proof certificate verification using Blockchain and IPFS.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Traditional certificate systems are vulnerable to forgery and unauthorized modifications.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proposed system provides decentralized storage and blockchain-based integrity verification.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Approved institutes can issue certificates securely to users.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Verifiers can validate certificate authenticity through blockchain comparison.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The system includes four major modules: Admin, Institute, User, and Verifier.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Technologies used include React.js, Node.js, MongoDB, Solidity, Hardhat, Ethereum Blockchain, and IPFS.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Font typeface="Arial"/>
              <a:buNone/>
              <a:tabLst/>
              <a:defRPr/>
            </a:pPr>
            <a:fld id="{00000000-1234-1234-1234-123412341234}" type="slidenum">
              <a:rPr kumimoji="0" lang="en-IN" sz="2199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100"/>
                <a:buFont typeface="Arial"/>
                <a:buNone/>
                <a:tabLst/>
                <a:defRPr/>
              </a:pPr>
              <a:t>4</a:t>
            </a:fld>
            <a:endParaRPr kumimoji="0" sz="2199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1008063" y="2073275"/>
            <a:ext cx="8692118" cy="846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Module Name: Admin Module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Purpose: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To manage institute approval requests and system control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Input: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Institute approval request and verification documents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Process: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Approve or reject institute registration requests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Output: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Approved/Rejected institute status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Module Name: Institute Module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Purpose: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To issue certificates securely to users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Input: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User details and certificate files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n-lt"/>
                <a:cs typeface="Times New Roman" panose="02020603050405020304" pitchFamily="18" charset="0"/>
              </a:rPr>
              <a:t>Process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Raise approval request, issue certificate, upload certificate to IPFS, store CID on blockchain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Output: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Verified certificate issuance</a:t>
            </a: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5057775" y="690534"/>
            <a:ext cx="95295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IN" sz="4400" b="1" dirty="0">
                <a:latin typeface="+mn-lt"/>
                <a:ea typeface="Times New Roman"/>
                <a:cs typeface="Times New Roman"/>
                <a:sym typeface="Times New Roman"/>
              </a:rPr>
              <a:t>Implementation</a:t>
            </a:r>
            <a:endParaRPr lang="en-IN" sz="4400" dirty="0">
              <a:latin typeface="+mn-lt"/>
            </a:endParaRPr>
          </a:p>
        </p:txBody>
      </p:sp>
      <p:sp>
        <p:nvSpPr>
          <p:cNvPr id="2" name="Google Shape;98;p9">
            <a:extLst>
              <a:ext uri="{FF2B5EF4-FFF2-40B4-BE49-F238E27FC236}">
                <a16:creationId xmlns:a16="http://schemas.microsoft.com/office/drawing/2014/main" id="{D2800F58-23A4-BB21-23EC-38ED66878C6F}"/>
              </a:ext>
            </a:extLst>
          </p:cNvPr>
          <p:cNvSpPr/>
          <p:nvPr/>
        </p:nvSpPr>
        <p:spPr>
          <a:xfrm>
            <a:off x="9822525" y="2007543"/>
            <a:ext cx="10010882" cy="7971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Module Name: User Module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Purpose: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To manage personal certificates and verifier access requests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Input: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Access approval/rejection decisions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n-lt"/>
                <a:cs typeface="Times New Roman" panose="02020603050405020304" pitchFamily="18" charset="0"/>
              </a:rPr>
              <a:t>Process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View certificates, approve/reject verifier access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Output: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Controlled certificate sharing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Module Name: Verifier Module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Purpose: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To verify certificate authenticity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Input: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Certificate ID and uploaded certificate file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n-lt"/>
                <a:cs typeface="Times New Roman" panose="02020603050405020304" pitchFamily="18" charset="0"/>
              </a:rPr>
              <a:t>Process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Raise access request, verify uploaded file with blockchain CID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Output: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Times New Roman" panose="02020603050405020304" pitchFamily="18" charset="0"/>
                <a:sym typeface="Arial"/>
              </a:rPr>
              <a:t>Authentic / Tampered verification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96" name="Google Shape;196;p31"/>
          <p:cNvSpPr txBox="1"/>
          <p:nvPr/>
        </p:nvSpPr>
        <p:spPr>
          <a:xfrm>
            <a:off x="5067202" y="725488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Testing</a:t>
            </a:r>
            <a:endParaRPr dirty="0">
              <a:latin typeface="+mj-lt"/>
            </a:endParaRPr>
          </a:p>
        </p:txBody>
      </p:sp>
      <p:graphicFrame>
        <p:nvGraphicFramePr>
          <p:cNvPr id="197" name="Google Shape;197;p31"/>
          <p:cNvGraphicFramePr/>
          <p:nvPr>
            <p:extLst>
              <p:ext uri="{D42A27DB-BD31-4B8C-83A1-F6EECF244321}">
                <p14:modId xmlns:p14="http://schemas.microsoft.com/office/powerpoint/2010/main" val="2460528372"/>
              </p:ext>
            </p:extLst>
          </p:nvPr>
        </p:nvGraphicFramePr>
        <p:xfrm>
          <a:off x="1892198" y="2315082"/>
          <a:ext cx="16941901" cy="8236498"/>
        </p:xfrm>
        <a:graphic>
          <a:graphicData uri="http://schemas.openxmlformats.org/drawingml/2006/table">
            <a:tbl>
              <a:tblPr firstRow="1" bandRow="1">
                <a:noFill/>
                <a:tableStyleId>{7452606D-4831-4270-B2F6-B2B70CEFDC25}</a:tableStyleId>
              </a:tblPr>
              <a:tblGrid>
                <a:gridCol w="160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0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7552">
                  <a:extLst>
                    <a:ext uri="{9D8B030D-6E8A-4147-A177-3AD203B41FA5}">
                      <a16:colId xmlns:a16="http://schemas.microsoft.com/office/drawing/2014/main" val="2073485473"/>
                    </a:ext>
                  </a:extLst>
                </a:gridCol>
              </a:tblGrid>
              <a:tr h="15660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u="none" strike="noStrike" cap="none" dirty="0"/>
                        <a:t> Test </a:t>
                      </a:r>
                      <a:r>
                        <a:rPr lang="en-IN" sz="2600" u="none" strike="noStrike" cap="none" dirty="0" err="1"/>
                        <a:t>Case_ID</a:t>
                      </a:r>
                      <a:endParaRPr sz="2600"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dirty="0"/>
                        <a:t> Feature Tested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dirty="0"/>
                        <a:t> </a:t>
                      </a:r>
                      <a:endParaRPr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/>
                        <a:t> Sample Input </a:t>
                      </a:r>
                      <a:endParaRPr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/>
                        <a:t>Expected Output </a:t>
                      </a:r>
                      <a:endParaRPr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dirty="0"/>
                        <a:t>Actual Output</a:t>
                      </a:r>
                      <a:endParaRPr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cs typeface="Arial"/>
                          <a:sym typeface="Arial"/>
                        </a:rPr>
                        <a:t>Remarks (Pass/Fail)</a:t>
                      </a:r>
                      <a:endParaRPr sz="2600" b="1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ADM_01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Institute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Valid institute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Institute 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Institute 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27380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ADM_02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Institute Rejection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Invalid institute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Institute rejected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Institute rejected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857828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ADM_03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Unauthorized Admin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Invalid JWT 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denied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denied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142586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Certificate Issuance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Valid user ID + certificate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Certificate issued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Certificate issued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253162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Duplicate Certificate 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Existing certificate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Duplicate prevented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Duplicate prevented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2255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7F3D11F7-7E14-7EAD-E61B-FB563CB3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>
            <a:extLst>
              <a:ext uri="{FF2B5EF4-FFF2-40B4-BE49-F238E27FC236}">
                <a16:creationId xmlns:a16="http://schemas.microsoft.com/office/drawing/2014/main" id="{7F8600DE-7BA5-AA7C-35C8-B1089F3E8552}"/>
              </a:ext>
            </a:extLst>
          </p:cNvPr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>
            <a:extLst>
              <a:ext uri="{FF2B5EF4-FFF2-40B4-BE49-F238E27FC236}">
                <a16:creationId xmlns:a16="http://schemas.microsoft.com/office/drawing/2014/main" id="{7791EBB7-A06A-E6DB-3EDF-89582D7BFAD5}"/>
              </a:ext>
            </a:extLst>
          </p:cNvPr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>
            <a:extLst>
              <a:ext uri="{FF2B5EF4-FFF2-40B4-BE49-F238E27FC236}">
                <a16:creationId xmlns:a16="http://schemas.microsoft.com/office/drawing/2014/main" id="{0E91A9BB-5160-F453-C265-E81088144B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96" name="Google Shape;196;p31">
            <a:extLst>
              <a:ext uri="{FF2B5EF4-FFF2-40B4-BE49-F238E27FC236}">
                <a16:creationId xmlns:a16="http://schemas.microsoft.com/office/drawing/2014/main" id="{47F021D4-A027-A896-D6B4-562C63332818}"/>
              </a:ext>
            </a:extLst>
          </p:cNvPr>
          <p:cNvSpPr txBox="1"/>
          <p:nvPr/>
        </p:nvSpPr>
        <p:spPr>
          <a:xfrm>
            <a:off x="5067202" y="785142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Testing</a:t>
            </a:r>
            <a:endParaRPr dirty="0">
              <a:latin typeface="+mj-lt"/>
            </a:endParaRPr>
          </a:p>
        </p:txBody>
      </p:sp>
      <p:graphicFrame>
        <p:nvGraphicFramePr>
          <p:cNvPr id="197" name="Google Shape;197;p31">
            <a:extLst>
              <a:ext uri="{FF2B5EF4-FFF2-40B4-BE49-F238E27FC236}">
                <a16:creationId xmlns:a16="http://schemas.microsoft.com/office/drawing/2014/main" id="{00259B29-2A2C-A1D5-1C6D-3BDD95236F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020997"/>
              </p:ext>
            </p:extLst>
          </p:nvPr>
        </p:nvGraphicFramePr>
        <p:xfrm>
          <a:off x="1892198" y="2315082"/>
          <a:ext cx="16941901" cy="8236498"/>
        </p:xfrm>
        <a:graphic>
          <a:graphicData uri="http://schemas.openxmlformats.org/drawingml/2006/table">
            <a:tbl>
              <a:tblPr firstRow="1" bandRow="1">
                <a:noFill/>
                <a:tableStyleId>{7452606D-4831-4270-B2F6-B2B70CEFDC25}</a:tableStyleId>
              </a:tblPr>
              <a:tblGrid>
                <a:gridCol w="160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0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7552">
                  <a:extLst>
                    <a:ext uri="{9D8B030D-6E8A-4147-A177-3AD203B41FA5}">
                      <a16:colId xmlns:a16="http://schemas.microsoft.com/office/drawing/2014/main" val="2073485473"/>
                    </a:ext>
                  </a:extLst>
                </a:gridCol>
              </a:tblGrid>
              <a:tr h="15660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u="none" strike="noStrike" cap="none" dirty="0"/>
                        <a:t> Test </a:t>
                      </a:r>
                      <a:r>
                        <a:rPr lang="en-IN" sz="2600" u="none" strike="noStrike" cap="none" dirty="0" err="1"/>
                        <a:t>Case_ID</a:t>
                      </a:r>
                      <a:endParaRPr sz="2600"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dirty="0"/>
                        <a:t> Feature Tested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dirty="0"/>
                        <a:t> </a:t>
                      </a:r>
                      <a:endParaRPr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/>
                        <a:t> Sample Input </a:t>
                      </a:r>
                      <a:endParaRPr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/>
                        <a:t>Expected Output </a:t>
                      </a:r>
                      <a:endParaRPr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dirty="0"/>
                        <a:t>Actual Output</a:t>
                      </a:r>
                      <a:endParaRPr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cs typeface="Arial"/>
                          <a:sym typeface="Arial"/>
                        </a:rPr>
                        <a:t>Remarks (Pass/Fail)</a:t>
                      </a:r>
                      <a:endParaRPr sz="2600" b="1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INS_03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Invalid File 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Unsupported file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Upload 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Upload 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09609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INS_04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User Validation Before Issuing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Invalid user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User not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User not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662617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USR_01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Request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Valid verifier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Request 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Request 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796152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USR_02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Reject Access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Valid verifier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Request rejected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Request rejected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134826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USR_03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View Issued Certificates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Valid user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Certificates displayed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Certificates displayed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636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349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4A7E950F-4C19-72EB-442C-E3AE2041A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>
            <a:extLst>
              <a:ext uri="{FF2B5EF4-FFF2-40B4-BE49-F238E27FC236}">
                <a16:creationId xmlns:a16="http://schemas.microsoft.com/office/drawing/2014/main" id="{15DA861A-BBD7-8B15-6699-701D28EF349B}"/>
              </a:ext>
            </a:extLst>
          </p:cNvPr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>
            <a:extLst>
              <a:ext uri="{FF2B5EF4-FFF2-40B4-BE49-F238E27FC236}">
                <a16:creationId xmlns:a16="http://schemas.microsoft.com/office/drawing/2014/main" id="{53F8CBA3-B12B-C6F1-3EF1-29BF2FF8E043}"/>
              </a:ext>
            </a:extLst>
          </p:cNvPr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>
            <a:extLst>
              <a:ext uri="{FF2B5EF4-FFF2-40B4-BE49-F238E27FC236}">
                <a16:creationId xmlns:a16="http://schemas.microsoft.com/office/drawing/2014/main" id="{591735A3-0418-D9ED-4C85-3BFA1523A3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196" name="Google Shape;196;p31">
            <a:extLst>
              <a:ext uri="{FF2B5EF4-FFF2-40B4-BE49-F238E27FC236}">
                <a16:creationId xmlns:a16="http://schemas.microsoft.com/office/drawing/2014/main" id="{05C75802-E6FF-CED3-77D7-02F1FC4F849F}"/>
              </a:ext>
            </a:extLst>
          </p:cNvPr>
          <p:cNvSpPr txBox="1"/>
          <p:nvPr/>
        </p:nvSpPr>
        <p:spPr>
          <a:xfrm>
            <a:off x="4972933" y="741363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Testing</a:t>
            </a:r>
            <a:endParaRPr dirty="0">
              <a:latin typeface="+mj-lt"/>
            </a:endParaRPr>
          </a:p>
        </p:txBody>
      </p:sp>
      <p:graphicFrame>
        <p:nvGraphicFramePr>
          <p:cNvPr id="197" name="Google Shape;197;p31">
            <a:extLst>
              <a:ext uri="{FF2B5EF4-FFF2-40B4-BE49-F238E27FC236}">
                <a16:creationId xmlns:a16="http://schemas.microsoft.com/office/drawing/2014/main" id="{09FF725C-9B13-8CE1-6B6A-A8F58032DF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5659309"/>
              </p:ext>
            </p:extLst>
          </p:nvPr>
        </p:nvGraphicFramePr>
        <p:xfrm>
          <a:off x="1892198" y="2315082"/>
          <a:ext cx="16941901" cy="8236498"/>
        </p:xfrm>
        <a:graphic>
          <a:graphicData uri="http://schemas.openxmlformats.org/drawingml/2006/table">
            <a:tbl>
              <a:tblPr firstRow="1" bandRow="1">
                <a:noFill/>
                <a:tableStyleId>{7452606D-4831-4270-B2F6-B2B70CEFDC25}</a:tableStyleId>
              </a:tblPr>
              <a:tblGrid>
                <a:gridCol w="160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0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7552">
                  <a:extLst>
                    <a:ext uri="{9D8B030D-6E8A-4147-A177-3AD203B41FA5}">
                      <a16:colId xmlns:a16="http://schemas.microsoft.com/office/drawing/2014/main" val="2073485473"/>
                    </a:ext>
                  </a:extLst>
                </a:gridCol>
              </a:tblGrid>
              <a:tr h="15660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u="none" strike="noStrike" cap="none" dirty="0"/>
                        <a:t> Test </a:t>
                      </a:r>
                      <a:r>
                        <a:rPr lang="en-IN" sz="2600" u="none" strike="noStrike" cap="none" dirty="0" err="1"/>
                        <a:t>Case_ID</a:t>
                      </a:r>
                      <a:endParaRPr sz="2600"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dirty="0"/>
                        <a:t> Feature Tested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dirty="0"/>
                        <a:t> </a:t>
                      </a:r>
                      <a:endParaRPr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/>
                        <a:t> Sample Input </a:t>
                      </a:r>
                      <a:endParaRPr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/>
                        <a:t>Expected Output </a:t>
                      </a:r>
                      <a:endParaRPr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dirty="0"/>
                        <a:t>Actual Output</a:t>
                      </a:r>
                      <a:endParaRPr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cs typeface="Arial"/>
                          <a:sym typeface="Arial"/>
                        </a:rPr>
                        <a:t>Remarks (Pass/Fail)</a:t>
                      </a:r>
                      <a:endParaRPr sz="2600" b="1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VER_01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Certificate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Original certificate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Certificate authentic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Certificate authentic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204779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Tampered File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Modified certificate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Certificate tampered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Certificate tampered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225664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VER_03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Request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Valid certificate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Request 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Request 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406264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VER_04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Duplicate Access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Existing pending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Duplicate request blocked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Duplicate request blocked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431114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VER_05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Verification Without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Pending access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denied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denied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296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93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0EED892E-EDE4-E5AA-AD50-77D29E0CA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>
            <a:extLst>
              <a:ext uri="{FF2B5EF4-FFF2-40B4-BE49-F238E27FC236}">
                <a16:creationId xmlns:a16="http://schemas.microsoft.com/office/drawing/2014/main" id="{FA458A2A-21F9-74AA-0A8D-CFC4CB058B66}"/>
              </a:ext>
            </a:extLst>
          </p:cNvPr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>
            <a:extLst>
              <a:ext uri="{FF2B5EF4-FFF2-40B4-BE49-F238E27FC236}">
                <a16:creationId xmlns:a16="http://schemas.microsoft.com/office/drawing/2014/main" id="{8CD5AE11-A751-575A-FC4E-0F5E0B90F067}"/>
              </a:ext>
            </a:extLst>
          </p:cNvPr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>
            <a:extLst>
              <a:ext uri="{FF2B5EF4-FFF2-40B4-BE49-F238E27FC236}">
                <a16:creationId xmlns:a16="http://schemas.microsoft.com/office/drawing/2014/main" id="{3942CDCD-0978-69C3-66AB-DBD7363E4B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96" name="Google Shape;196;p31">
            <a:extLst>
              <a:ext uri="{FF2B5EF4-FFF2-40B4-BE49-F238E27FC236}">
                <a16:creationId xmlns:a16="http://schemas.microsoft.com/office/drawing/2014/main" id="{165CBE7E-073C-B535-2FB6-D38A0C3BE85C}"/>
              </a:ext>
            </a:extLst>
          </p:cNvPr>
          <p:cNvSpPr txBox="1"/>
          <p:nvPr/>
        </p:nvSpPr>
        <p:spPr>
          <a:xfrm>
            <a:off x="5104909" y="902748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Testing</a:t>
            </a:r>
            <a:endParaRPr dirty="0">
              <a:latin typeface="+mj-lt"/>
            </a:endParaRPr>
          </a:p>
        </p:txBody>
      </p:sp>
      <p:graphicFrame>
        <p:nvGraphicFramePr>
          <p:cNvPr id="197" name="Google Shape;197;p31">
            <a:extLst>
              <a:ext uri="{FF2B5EF4-FFF2-40B4-BE49-F238E27FC236}">
                <a16:creationId xmlns:a16="http://schemas.microsoft.com/office/drawing/2014/main" id="{AE9327C0-9FC0-CC29-5CE0-D4CEA4735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298594"/>
              </p:ext>
            </p:extLst>
          </p:nvPr>
        </p:nvGraphicFramePr>
        <p:xfrm>
          <a:off x="1892198" y="2315082"/>
          <a:ext cx="16941901" cy="8236498"/>
        </p:xfrm>
        <a:graphic>
          <a:graphicData uri="http://schemas.openxmlformats.org/drawingml/2006/table">
            <a:tbl>
              <a:tblPr firstRow="1" bandRow="1">
                <a:noFill/>
                <a:tableStyleId>{7452606D-4831-4270-B2F6-B2B70CEFDC25}</a:tableStyleId>
              </a:tblPr>
              <a:tblGrid>
                <a:gridCol w="160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0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7552">
                  <a:extLst>
                    <a:ext uri="{9D8B030D-6E8A-4147-A177-3AD203B41FA5}">
                      <a16:colId xmlns:a16="http://schemas.microsoft.com/office/drawing/2014/main" val="2073485473"/>
                    </a:ext>
                  </a:extLst>
                </a:gridCol>
              </a:tblGrid>
              <a:tr h="15660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u="none" strike="noStrike" cap="none" dirty="0"/>
                        <a:t> Test </a:t>
                      </a:r>
                      <a:r>
                        <a:rPr lang="en-IN" sz="2600" u="none" strike="noStrike" cap="none" dirty="0" err="1"/>
                        <a:t>Case_ID</a:t>
                      </a:r>
                      <a:endParaRPr sz="2600"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dirty="0"/>
                        <a:t> Feature Tested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 dirty="0"/>
                        <a:t> </a:t>
                      </a:r>
                      <a:endParaRPr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/>
                        <a:t> Sample Input </a:t>
                      </a:r>
                      <a:endParaRPr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600"/>
                        <a:t>Expected Output </a:t>
                      </a:r>
                      <a:endParaRPr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dirty="0"/>
                        <a:t>Actual Output</a:t>
                      </a:r>
                      <a:endParaRPr dirty="0"/>
                    </a:p>
                  </a:txBody>
                  <a:tcPr marL="91450" marR="91450" marT="45750" marB="457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cs typeface="Arial"/>
                          <a:sym typeface="Arial"/>
                        </a:rPr>
                        <a:t>Remarks (Pass/Fail)</a:t>
                      </a:r>
                      <a:endParaRPr sz="2600" b="1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VER_06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Expired Access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Expired 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expired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expired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701258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AUTH_01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Login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Valid credentials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Login successful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Login successful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662353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AUTH_02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Invalid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Wrong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Login 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Login failed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22856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SYS_01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Blockchain CID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Original certificate CID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Match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Match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532342"/>
                  </a:ext>
                </a:extLst>
              </a:tr>
              <a:tr h="1334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SYS_02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IPFS Upload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Valid certificate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CID generated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CID generated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785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12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5B51B661-91F3-007F-8A85-12B94F19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>
            <a:extLst>
              <a:ext uri="{FF2B5EF4-FFF2-40B4-BE49-F238E27FC236}">
                <a16:creationId xmlns:a16="http://schemas.microsoft.com/office/drawing/2014/main" id="{000F4A9E-117B-D238-5D01-4007413E04D0}"/>
              </a:ext>
            </a:extLst>
          </p:cNvPr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2">
            <a:extLst>
              <a:ext uri="{FF2B5EF4-FFF2-40B4-BE49-F238E27FC236}">
                <a16:creationId xmlns:a16="http://schemas.microsoft.com/office/drawing/2014/main" id="{41EF617D-4513-9EB2-4665-9F9503371E88}"/>
              </a:ext>
            </a:extLst>
          </p:cNvPr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2">
            <a:extLst>
              <a:ext uri="{FF2B5EF4-FFF2-40B4-BE49-F238E27FC236}">
                <a16:creationId xmlns:a16="http://schemas.microsoft.com/office/drawing/2014/main" id="{F48D28A2-247F-4AA9-7495-ED6F85C981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208" name="Google Shape;208;p32">
            <a:extLst>
              <a:ext uri="{FF2B5EF4-FFF2-40B4-BE49-F238E27FC236}">
                <a16:creationId xmlns:a16="http://schemas.microsoft.com/office/drawing/2014/main" id="{AE8ED1C8-286B-BFDE-4E3F-24E698FF2C83}"/>
              </a:ext>
            </a:extLst>
          </p:cNvPr>
          <p:cNvSpPr txBox="1"/>
          <p:nvPr/>
        </p:nvSpPr>
        <p:spPr>
          <a:xfrm>
            <a:off x="5133189" y="815150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Results</a:t>
            </a:r>
            <a:endParaRPr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0096D-6542-E99D-4364-0841638079C9}"/>
              </a:ext>
            </a:extLst>
          </p:cNvPr>
          <p:cNvSpPr txBox="1"/>
          <p:nvPr/>
        </p:nvSpPr>
        <p:spPr>
          <a:xfrm>
            <a:off x="804355" y="2602680"/>
            <a:ext cx="18495389" cy="746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Successfully developed a blockchain-based certificate verification system.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Implemented secure certificate issuance and verification workflow.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Integrated IPFS for decentralized file storage.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Stored certificate integrity proofs on Ethereum blockchain.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Implemented role-based authentication and authorization.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Successfully detected tampered certificates during verification.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Developed responsive dashboards with dark/light mode support.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Successfully integrated frontend, backend, blockchain, and IPFS modules.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Project deployed and functioning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41852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218" name="Google Shape;218;p33"/>
          <p:cNvSpPr txBox="1"/>
          <p:nvPr/>
        </p:nvSpPr>
        <p:spPr>
          <a:xfrm>
            <a:off x="4972934" y="837267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Screenshots  </a:t>
            </a:r>
            <a:endParaRPr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A7EFC6-7B29-A4C7-CC74-823A44E06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919" y="2301971"/>
            <a:ext cx="15442261" cy="78567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17EA2304-11D4-8716-934D-007744BE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>
            <a:extLst>
              <a:ext uri="{FF2B5EF4-FFF2-40B4-BE49-F238E27FC236}">
                <a16:creationId xmlns:a16="http://schemas.microsoft.com/office/drawing/2014/main" id="{6D6A8831-A465-9254-A13A-01EC527A07FC}"/>
              </a:ext>
            </a:extLst>
          </p:cNvPr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>
            <a:extLst>
              <a:ext uri="{FF2B5EF4-FFF2-40B4-BE49-F238E27FC236}">
                <a16:creationId xmlns:a16="http://schemas.microsoft.com/office/drawing/2014/main" id="{0253AF65-6794-04DE-409C-BD60A9931614}"/>
              </a:ext>
            </a:extLst>
          </p:cNvPr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>
            <a:extLst>
              <a:ext uri="{FF2B5EF4-FFF2-40B4-BE49-F238E27FC236}">
                <a16:creationId xmlns:a16="http://schemas.microsoft.com/office/drawing/2014/main" id="{62CDFB17-A41F-4728-7ECF-59EC862383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18" name="Google Shape;218;p33">
            <a:extLst>
              <a:ext uri="{FF2B5EF4-FFF2-40B4-BE49-F238E27FC236}">
                <a16:creationId xmlns:a16="http://schemas.microsoft.com/office/drawing/2014/main" id="{29F79EED-F0A3-7DC7-F1FF-7410130E65AB}"/>
              </a:ext>
            </a:extLst>
          </p:cNvPr>
          <p:cNvSpPr txBox="1"/>
          <p:nvPr/>
        </p:nvSpPr>
        <p:spPr>
          <a:xfrm>
            <a:off x="4972934" y="837267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Screenshots  </a:t>
            </a:r>
            <a:endParaRPr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FED9E-A6F2-03A9-426A-3685B08E8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783" y="2305434"/>
            <a:ext cx="15020534" cy="758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3862AF99-7E68-8FDB-07F8-E4D61036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>
            <a:extLst>
              <a:ext uri="{FF2B5EF4-FFF2-40B4-BE49-F238E27FC236}">
                <a16:creationId xmlns:a16="http://schemas.microsoft.com/office/drawing/2014/main" id="{397E5EA2-0070-E8AC-E0FA-69943C18E4EE}"/>
              </a:ext>
            </a:extLst>
          </p:cNvPr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>
            <a:extLst>
              <a:ext uri="{FF2B5EF4-FFF2-40B4-BE49-F238E27FC236}">
                <a16:creationId xmlns:a16="http://schemas.microsoft.com/office/drawing/2014/main" id="{1F4BAAEA-7C71-C69F-055D-BFF6E6F27F65}"/>
              </a:ext>
            </a:extLst>
          </p:cNvPr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>
            <a:extLst>
              <a:ext uri="{FF2B5EF4-FFF2-40B4-BE49-F238E27FC236}">
                <a16:creationId xmlns:a16="http://schemas.microsoft.com/office/drawing/2014/main" id="{9233B9B3-C579-7909-DC7F-06D0ADE960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218" name="Google Shape;218;p33">
            <a:extLst>
              <a:ext uri="{FF2B5EF4-FFF2-40B4-BE49-F238E27FC236}">
                <a16:creationId xmlns:a16="http://schemas.microsoft.com/office/drawing/2014/main" id="{0A4E9EC2-453D-D17A-1390-28100A288E79}"/>
              </a:ext>
            </a:extLst>
          </p:cNvPr>
          <p:cNvSpPr txBox="1"/>
          <p:nvPr/>
        </p:nvSpPr>
        <p:spPr>
          <a:xfrm>
            <a:off x="4972934" y="837267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Screenshots  </a:t>
            </a:r>
            <a:endParaRPr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D811BF-3017-BACF-9624-D013FE9451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8181" y="2069772"/>
            <a:ext cx="15967738" cy="817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8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81E4E7E2-5839-647C-E0FB-02522DD0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>
            <a:extLst>
              <a:ext uri="{FF2B5EF4-FFF2-40B4-BE49-F238E27FC236}">
                <a16:creationId xmlns:a16="http://schemas.microsoft.com/office/drawing/2014/main" id="{BC1CAC4D-DD13-9C49-EA0A-3514BC655435}"/>
              </a:ext>
            </a:extLst>
          </p:cNvPr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>
            <a:extLst>
              <a:ext uri="{FF2B5EF4-FFF2-40B4-BE49-F238E27FC236}">
                <a16:creationId xmlns:a16="http://schemas.microsoft.com/office/drawing/2014/main" id="{1DF6AE0E-0D36-92A5-710D-64BB5B1E27FF}"/>
              </a:ext>
            </a:extLst>
          </p:cNvPr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>
            <a:extLst>
              <a:ext uri="{FF2B5EF4-FFF2-40B4-BE49-F238E27FC236}">
                <a16:creationId xmlns:a16="http://schemas.microsoft.com/office/drawing/2014/main" id="{F434B46D-3B87-091E-B289-E1042AE96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218" name="Google Shape;218;p33">
            <a:extLst>
              <a:ext uri="{FF2B5EF4-FFF2-40B4-BE49-F238E27FC236}">
                <a16:creationId xmlns:a16="http://schemas.microsoft.com/office/drawing/2014/main" id="{F76F543D-2E38-EB30-4E1B-7E1BC54F6440}"/>
              </a:ext>
            </a:extLst>
          </p:cNvPr>
          <p:cNvSpPr txBox="1"/>
          <p:nvPr/>
        </p:nvSpPr>
        <p:spPr>
          <a:xfrm>
            <a:off x="4972934" y="837267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Screenshots  </a:t>
            </a:r>
            <a:endParaRPr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8EE92C-FA34-1A50-AEA7-10FD4692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181" y="2061558"/>
            <a:ext cx="15967738" cy="819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58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5175AC8B-5663-FA55-3F1D-D5DD5E7E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>
            <a:extLst>
              <a:ext uri="{FF2B5EF4-FFF2-40B4-BE49-F238E27FC236}">
                <a16:creationId xmlns:a16="http://schemas.microsoft.com/office/drawing/2014/main" id="{875699D8-467B-D6A1-DD0F-BB0BEFDC3F20}"/>
              </a:ext>
            </a:extLst>
          </p:cNvPr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>
            <a:extLst>
              <a:ext uri="{FF2B5EF4-FFF2-40B4-BE49-F238E27FC236}">
                <a16:creationId xmlns:a16="http://schemas.microsoft.com/office/drawing/2014/main" id="{9C226530-0853-743D-1C89-139079C962AB}"/>
              </a:ext>
            </a:extLst>
          </p:cNvPr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>
            <a:extLst>
              <a:ext uri="{FF2B5EF4-FFF2-40B4-BE49-F238E27FC236}">
                <a16:creationId xmlns:a16="http://schemas.microsoft.com/office/drawing/2014/main" id="{2075B298-2DBA-1FB9-C19F-3FA3B33B3C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218" name="Google Shape;218;p33">
            <a:extLst>
              <a:ext uri="{FF2B5EF4-FFF2-40B4-BE49-F238E27FC236}">
                <a16:creationId xmlns:a16="http://schemas.microsoft.com/office/drawing/2014/main" id="{0E4C67B3-B1C7-0101-1249-D0C3A24FC4F8}"/>
              </a:ext>
            </a:extLst>
          </p:cNvPr>
          <p:cNvSpPr txBox="1"/>
          <p:nvPr/>
        </p:nvSpPr>
        <p:spPr>
          <a:xfrm>
            <a:off x="4972934" y="837267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Screenshots  </a:t>
            </a:r>
            <a:endParaRPr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AD169F-3AC7-F941-A425-B2001CC65B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8181" y="2134839"/>
            <a:ext cx="15967738" cy="804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217" name="Google Shape;217;p33"/>
          <p:cNvSpPr/>
          <p:nvPr/>
        </p:nvSpPr>
        <p:spPr>
          <a:xfrm>
            <a:off x="969963" y="2301875"/>
            <a:ext cx="18527712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218" name="Google Shape;218;p33"/>
          <p:cNvSpPr txBox="1"/>
          <p:nvPr/>
        </p:nvSpPr>
        <p:spPr>
          <a:xfrm>
            <a:off x="5199177" y="896145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Conclusion  </a:t>
            </a:r>
            <a:endParaRPr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41ECB-6826-2C4C-F15F-3FA418F76602}"/>
              </a:ext>
            </a:extLst>
          </p:cNvPr>
          <p:cNvSpPr txBox="1"/>
          <p:nvPr/>
        </p:nvSpPr>
        <p:spPr>
          <a:xfrm>
            <a:off x="1366887" y="2526385"/>
            <a:ext cx="17580400" cy="8299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Developed a secure and decentralized certificate verification system using Blockchain and IPFS.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Successfully prevented certificate tampering through blockchain-based integrity verification.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Implemented secure role-based access for Admin, Institute, User, and Verifier modules.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Achieved reliable certificate issuance, storage, and verification workflow.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Improved transparency, authenticity, and security in digital certificate management.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/>
              <a:t>Successfully integrated frontend, backend, blockchain, and IPFS technologies into a complete working system.</a:t>
            </a:r>
          </a:p>
        </p:txBody>
      </p:sp>
    </p:spTree>
    <p:extLst>
      <p:ext uri="{BB962C8B-B14F-4D97-AF65-F5344CB8AC3E}">
        <p14:creationId xmlns:p14="http://schemas.microsoft.com/office/powerpoint/2010/main" val="2516224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217" name="Google Shape;217;p33"/>
          <p:cNvSpPr/>
          <p:nvPr/>
        </p:nvSpPr>
        <p:spPr>
          <a:xfrm>
            <a:off x="969963" y="2301875"/>
            <a:ext cx="18527712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218" name="Google Shape;218;p33"/>
          <p:cNvSpPr txBox="1"/>
          <p:nvPr/>
        </p:nvSpPr>
        <p:spPr>
          <a:xfrm>
            <a:off x="5208604" y="896145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Future Enhancements</a:t>
            </a:r>
            <a:endParaRPr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E17BB-27F1-88FB-68AB-0B88A2486D94}"/>
              </a:ext>
            </a:extLst>
          </p:cNvPr>
          <p:cNvSpPr txBox="1"/>
          <p:nvPr/>
        </p:nvSpPr>
        <p:spPr>
          <a:xfrm>
            <a:off x="1453216" y="2918133"/>
            <a:ext cx="16430919" cy="551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QR-code based certificate verification.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Mobile application support for easier access.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Public certificate verification portal.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Real-time notification and email alert system.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Cloud deployment with scalability improvements.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/>
              <a:t>Advanced analytics and reporting dashboard.</a:t>
            </a:r>
          </a:p>
        </p:txBody>
      </p:sp>
    </p:spTree>
    <p:extLst>
      <p:ext uri="{BB962C8B-B14F-4D97-AF65-F5344CB8AC3E}">
        <p14:creationId xmlns:p14="http://schemas.microsoft.com/office/powerpoint/2010/main" val="13234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788194" y="2087867"/>
            <a:ext cx="18527712" cy="84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3600" dirty="0">
              <a:solidFill>
                <a:srgbClr val="00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[1] M. </a:t>
            </a:r>
            <a:r>
              <a:rPr lang="en-IN" sz="36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Tmeizeh</a:t>
            </a:r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et al., “Blockchain-based Data Preservation Framework,” Springer, 2024.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[2] Y. Wang et al., “Storage Optimization Techniques in Blockchain,” MDPI, 2024.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[3] P. Chinnasamy et al., “Blockchain-based Educational Document Management,” Scientific Reports, 2025.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[4] O. Hammoud et al., “Blockchain-based File Storage Systems,” Frontiers Blockchain, 2025.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[5] M. Islam et al., “Blockchain Log Integrity System,” </a:t>
            </a:r>
            <a:r>
              <a:rPr lang="en-IN" sz="36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arXiv</a:t>
            </a:r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, 2025.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[6] K. Choudhary et al., “Immutable Cloud Storage using Blockchain,” IJRCS, 2025.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[7] S. Kumar et al., “Blockchain and IPFS Storage Comparison,” IJRMEET, 2025.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[8] C. Antony et al., “Document Forgery Detection using Blockchain,” IJERT, 2024.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[9] S. Ma and Y. Zhang, “Blockchain + IPFS Healthcare Data Security,” Scientific Reports, 2024.</a:t>
            </a:r>
          </a:p>
          <a:p>
            <a:pPr marL="114300"/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[10] T. </a:t>
            </a:r>
            <a:r>
              <a:rPr lang="en-IN" sz="36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Nododile</a:t>
            </a:r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et al., “Hybrid Blockchain-IPFS Storage System,” </a:t>
            </a:r>
            <a:r>
              <a:rPr lang="en-IN" sz="36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arXiv</a:t>
            </a:r>
            <a:r>
              <a:rPr lang="en-IN" sz="3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, 2025.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3600" dirty="0">
              <a:solidFill>
                <a:srgbClr val="00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5038922" y="757238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1" dirty="0">
              <a:solidFill>
                <a:srgbClr val="000000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References</a:t>
            </a:r>
            <a:endParaRPr dirty="0">
              <a:latin typeface="+mj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1" dirty="0">
              <a:solidFill>
                <a:srgbClr val="000000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/>
          <p:nvPr/>
        </p:nvSpPr>
        <p:spPr>
          <a:xfrm>
            <a:off x="2982913" y="71278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6514" h="56515" extrusionOk="0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 extrusionOk="0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2998788" y="725488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 extrusionOk="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 extrusionOk="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 extrusionOk="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4"/>
          <p:cNvSpPr txBox="1">
            <a:spLocks noGrp="1"/>
          </p:cNvSpPr>
          <p:nvPr>
            <p:ph type="sldNum" idx="12"/>
          </p:nvPr>
        </p:nvSpPr>
        <p:spPr>
          <a:xfrm>
            <a:off x="18627952" y="10253019"/>
            <a:ext cx="1205455" cy="86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228" name="Google Shape;228;p34"/>
          <p:cNvSpPr txBox="1"/>
          <p:nvPr/>
        </p:nvSpPr>
        <p:spPr>
          <a:xfrm>
            <a:off x="5114925" y="769938"/>
            <a:ext cx="90709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1" dirty="0">
              <a:solidFill>
                <a:srgbClr val="000000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Details of Publication Status</a:t>
            </a:r>
            <a:endParaRPr dirty="0">
              <a:latin typeface="+mj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1" dirty="0">
              <a:solidFill>
                <a:srgbClr val="000000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F4805A-A236-877C-0552-FA371F6F8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76607"/>
              </p:ext>
            </p:extLst>
          </p:nvPr>
        </p:nvGraphicFramePr>
        <p:xfrm>
          <a:off x="3198763" y="2828042"/>
          <a:ext cx="13706573" cy="7008870"/>
        </p:xfrm>
        <a:graphic>
          <a:graphicData uri="http://schemas.openxmlformats.org/drawingml/2006/table">
            <a:tbl>
              <a:tblPr firstRow="1" firstCol="1" bandRow="1"/>
              <a:tblGrid>
                <a:gridCol w="6535042">
                  <a:extLst>
                    <a:ext uri="{9D8B030D-6E8A-4147-A177-3AD203B41FA5}">
                      <a16:colId xmlns:a16="http://schemas.microsoft.com/office/drawing/2014/main" val="3668513399"/>
                    </a:ext>
                  </a:extLst>
                </a:gridCol>
                <a:gridCol w="7171531">
                  <a:extLst>
                    <a:ext uri="{9D8B030D-6E8A-4147-A177-3AD203B41FA5}">
                      <a16:colId xmlns:a16="http://schemas.microsoft.com/office/drawing/2014/main" val="1016619311"/>
                    </a:ext>
                  </a:extLst>
                </a:gridCol>
              </a:tblGrid>
              <a:tr h="498962">
                <a:tc>
                  <a:txBody>
                    <a:bodyPr/>
                    <a:lstStyle/>
                    <a:p>
                      <a:pPr marL="7620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32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Type</a:t>
                      </a:r>
                      <a:endParaRPr lang="en-IN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3200" b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</a:t>
                      </a:r>
                      <a:endParaRPr lang="en-IN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686252"/>
                  </a:ext>
                </a:extLst>
              </a:tr>
              <a:tr h="64957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8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Conference</a:t>
                      </a:r>
                      <a:endParaRPr lang="en-IN" sz="2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 T Ullas, “Blockchain-Based Certificate Verification and File Integrity System Using IPFS and Ethereum,” </a:t>
                      </a:r>
                      <a:r>
                        <a:rPr lang="en-IN" sz="2800" i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Proceedings of the International Conference on Electrical, Electronics, and Computer Science with Advance Power Technologies – A Future Trends (ICE2CPT 2026)</a:t>
                      </a:r>
                      <a:r>
                        <a:rPr lang="en-IN" sz="2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organized by COER University in collaboration with NIT Jamshedpur, Roorkee, Haridwar, Uttarakhand, India, Nov. 19–21, 2026.</a:t>
                      </a:r>
                      <a:endParaRPr lang="en-IN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616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401658"/>
      </p:ext>
    </p:extLst>
  </p:cSld>
  <p:clrMapOvr>
    <a:masterClrMapping/>
  </p:clrMapOvr>
</p:sld>
</file>

<file path=ppt/theme/theme1.xml><?xml version="1.0" encoding="utf-8"?>
<a:theme xmlns:a="http://schemas.openxmlformats.org/drawingml/2006/main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1186</Words>
  <Application>Microsoft Office PowerPoint</Application>
  <PresentationFormat>Custom</PresentationFormat>
  <Paragraphs>303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Noto Sans Symbols</vt:lpstr>
      <vt:lpstr>Times New Roman</vt:lpstr>
      <vt:lpstr>4_Simple Light</vt:lpstr>
      <vt:lpstr>1_Simple Light</vt:lpstr>
      <vt:lpstr>5_Simple Light</vt:lpstr>
      <vt:lpstr>Major Project – MCA491P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RVCEMCA</dc:creator>
  <cp:lastModifiedBy>C T Ullas</cp:lastModifiedBy>
  <cp:revision>26</cp:revision>
  <dcterms:modified xsi:type="dcterms:W3CDTF">2026-05-17T12:00:58Z</dcterms:modified>
</cp:coreProperties>
</file>