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  <p:sldMasterId id="2147483659" r:id="rId2"/>
  </p:sldMasterIdLst>
  <p:notesMasterIdLst>
    <p:notesMasterId r:id="rId14"/>
  </p:notesMasterIdLst>
  <p:sldIdLst>
    <p:sldId id="265" r:id="rId3"/>
    <p:sldId id="257" r:id="rId4"/>
    <p:sldId id="266" r:id="rId5"/>
    <p:sldId id="259" r:id="rId6"/>
    <p:sldId id="260" r:id="rId7"/>
    <p:sldId id="267" r:id="rId8"/>
    <p:sldId id="262" r:id="rId9"/>
    <p:sldId id="263" r:id="rId10"/>
    <p:sldId id="269" r:id="rId11"/>
    <p:sldId id="274" r:id="rId12"/>
    <p:sldId id="275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3d66680d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3d66680d4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7F8D8C6-575C-424C-8624-042C81C5C6B8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4879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76FC355-BC36-4153-84A8-BEB7316A6EF2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4964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AE864A3-3A7E-421B-9CD1-B61052BCDF1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542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A79348A-4DD6-4817-9FC9-838F6B8B61E9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8946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18D9AA4-80F2-4A34-8DDF-133B07B03EE8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5543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391680" y="77652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DFCC7AA3-4E03-44AF-85DA-7E443D1F7F60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8573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D731EC82-2299-46C5-9E0F-8311524B9CA9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0945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F036827-9F7A-4926-B125-817DCFC96E40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45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06EC5F2-8AF3-44D4-A2FA-5F29F0D7D306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0573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8C07940-8A3B-4F7F-A3A6-4DCB6E8C8132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29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6BE3226-BDF3-4279-AC6E-A59FA4FF07CA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1331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91680" y="7765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9BC01D1-AA42-4822-A3E1-D78F3951B6B7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717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11"/>
          <p:cNvPicPr/>
          <p:nvPr/>
        </p:nvPicPr>
        <p:blipFill>
          <a:blip r:embed="rId15"/>
          <a:stretch/>
        </p:blipFill>
        <p:spPr>
          <a:xfrm>
            <a:off x="216000" y="216000"/>
            <a:ext cx="1507320" cy="6476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8341"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IN" sz="12000" b="0" strike="noStrike" spc="-1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lang="en-IN" sz="1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50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AF25AF-BA87-4DBE-89D7-CE08D7C7A362}" type="slidenum">
              <a:rPr lang="en-IN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IN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86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864091" y="270894"/>
            <a:ext cx="6030659" cy="65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Computing</a:t>
            </a:r>
            <a:endParaRPr lang="en-IN" sz="4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5;p1">
            <a:extLst>
              <a:ext uri="{FF2B5EF4-FFF2-40B4-BE49-F238E27FC236}">
                <a16:creationId xmlns:a16="http://schemas.microsoft.com/office/drawing/2014/main" id="{B7DFFED5-EE55-1D40-F2F6-95A8A8E7441B}"/>
              </a:ext>
            </a:extLst>
          </p:cNvPr>
          <p:cNvSpPr txBox="1">
            <a:spLocks/>
          </p:cNvSpPr>
          <p:nvPr/>
        </p:nvSpPr>
        <p:spPr>
          <a:xfrm>
            <a:off x="1097808" y="810303"/>
            <a:ext cx="6948384" cy="3794275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19" tIns="91419" rIns="91419" bIns="91419" anchor="t" anchorCtr="0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100000"/>
              </a:lnSpc>
              <a:buNone/>
              <a:tabLst>
                <a:tab pos="0" algn="l"/>
              </a:tabLst>
              <a:defRPr lang="en-IN" sz="1000" b="0" strike="noStrike" kern="1200" spc="-1">
                <a:solidFill>
                  <a:schemeClr val="dk2"/>
                </a:solidFill>
                <a:latin typeface="Arial"/>
                <a:ea typeface="Arial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291" algn="ctr">
              <a:buSzPct val="108108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14291" algn="ctr">
              <a:buSzPct val="108108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1RV24MC023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1" algn="ctr">
              <a:buSzPct val="108108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 T ULLAS</a:t>
            </a:r>
          </a:p>
          <a:p>
            <a:pPr marL="114291" algn="ctr">
              <a:buSzPct val="108108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1" algn="ctr">
              <a:buSzPct val="108108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1" algn="ctr">
              <a:buSzPct val="108108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the Guidance 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1" algn="ctr">
              <a:buSzPct val="108108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Of</a:t>
            </a:r>
          </a:p>
          <a:p>
            <a:pPr marL="114291" algn="ctr">
              <a:buSzPct val="108108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1" algn="ctr">
              <a:buSzPct val="108108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291" algn="ctr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Deepika K</a:t>
            </a:r>
          </a:p>
          <a:p>
            <a:pPr marL="114291" algn="ctr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marL="114291" algn="ctr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MCA</a:t>
            </a:r>
          </a:p>
          <a:p>
            <a:pPr marL="114291" algn="ctr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 V College of Engineering</a:t>
            </a:r>
          </a:p>
          <a:p>
            <a:pPr indent="457165" algn="ctr">
              <a:buSzPct val="108108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26;p1">
            <a:extLst>
              <a:ext uri="{FF2B5EF4-FFF2-40B4-BE49-F238E27FC236}">
                <a16:creationId xmlns:a16="http://schemas.microsoft.com/office/drawing/2014/main" id="{C4EE39FB-6FED-6B2E-AEE0-585A98654C87}"/>
              </a:ext>
            </a:extLst>
          </p:cNvPr>
          <p:cNvSpPr txBox="1"/>
          <p:nvPr/>
        </p:nvSpPr>
        <p:spPr>
          <a:xfrm>
            <a:off x="130876" y="4669651"/>
            <a:ext cx="8882248" cy="44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91419" rIns="91419" bIns="91419" anchor="b" anchorCtr="0">
            <a:noAutofit/>
          </a:bodyPr>
          <a:lstStyle/>
          <a:p>
            <a:pPr lvl="0" algn="ctr">
              <a:buClr>
                <a:schemeClr val="dk1"/>
              </a:buClr>
              <a:buSzPts val="12000"/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Date:23/05/2026                                                                                                 Department of MCA, RVCE 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;p2">
            <a:extLst>
              <a:ext uri="{FF2B5EF4-FFF2-40B4-BE49-F238E27FC236}">
                <a16:creationId xmlns:a16="http://schemas.microsoft.com/office/drawing/2014/main" id="{B929964E-FA58-23E8-6B55-99B91A573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3417" y="958116"/>
            <a:ext cx="8520600" cy="3227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216000" indent="-216000" algn="l" eaLnBrk="1" hangingPunct="1">
              <a:buClr>
                <a:srgbClr val="000000"/>
              </a:buClr>
              <a:buSzPct val="45000"/>
              <a:buFont typeface="Wingdings" charset="2"/>
              <a:buChar char=""/>
              <a:defRPr/>
            </a:pPr>
            <a:r>
              <a:rPr lang="en-IN" sz="1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sz="1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216000" indent="-216000" algn="just" eaLnBrk="1" hangingPunct="1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/>
            </a:pPr>
            <a:r>
              <a:rPr lang="en-IN" sz="1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Developments </a:t>
            </a:r>
          </a:p>
          <a:p>
            <a:pPr marL="216000" indent="-216000" algn="just" eaLnBrk="1" hangingPunct="1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/>
            </a:pPr>
            <a:r>
              <a:rPr lang="en-IN" sz="1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Key Competitors</a:t>
            </a:r>
          </a:p>
          <a:p>
            <a:pPr marL="216000" indent="-216000" algn="just" eaLnBrk="1" hangingPunct="1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/>
            </a:pPr>
            <a:r>
              <a:rPr lang="en-IN" sz="1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and Societal Concern</a:t>
            </a:r>
          </a:p>
          <a:p>
            <a:pPr marL="216000" indent="-216000" algn="just" eaLnBrk="1" hangingPunct="1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/>
            </a:pPr>
            <a:r>
              <a:rPr lang="en-IN" sz="1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  <a:p>
            <a:pPr marL="216000" indent="-216000" algn="just" eaLnBrk="1" hangingPunct="1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/>
            </a:pPr>
            <a:r>
              <a:rPr lang="en-IN" sz="1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216000" indent="-216000" algn="just" eaLnBrk="1" hangingPunct="1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/>
            </a:pPr>
            <a:r>
              <a:rPr lang="en-IN" sz="1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/>
          </a:p>
        </p:txBody>
      </p:sp>
      <p:sp>
        <p:nvSpPr>
          <p:cNvPr id="3" name="Google Shape;31;p2">
            <a:extLst>
              <a:ext uri="{FF2B5EF4-FFF2-40B4-BE49-F238E27FC236}">
                <a16:creationId xmlns:a16="http://schemas.microsoft.com/office/drawing/2014/main" id="{A6AD5538-1BB1-261B-E642-EDC88E707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5680" y="72737"/>
            <a:ext cx="4652029" cy="6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IN" sz="3600" dirty="0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38;p3"/>
          <p:cNvSpPr/>
          <p:nvPr/>
        </p:nvSpPr>
        <p:spPr>
          <a:xfrm>
            <a:off x="2055600" y="72720"/>
            <a:ext cx="4651560" cy="67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360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Introduction</a:t>
            </a:r>
            <a:endParaRPr lang="en-IN" sz="36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E17231-BFEF-A2C9-C814-8BC1048B5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76" y="1013843"/>
            <a:ext cx="81394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Computing is a brain-inspired computing paradigm that mimics the structure and functioning of the human brain.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based on Von Neumann architecture face limitations in power consumption and real-time learning.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systems use artificial neurons, synapses, and Spiking Neural Networks (SNNs).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applied in Artificial Intelligence (AI), robotics, autonomous vehicles, IoT, and edge computing.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companies such as Intel, IBM, and Qualcomm are actively developing neuromorphic chips.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topic is selected because it represents the future of low-power intelligent computing systems.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4;p4">
            <a:extLst>
              <a:ext uri="{FF2B5EF4-FFF2-40B4-BE49-F238E27FC236}">
                <a16:creationId xmlns:a16="http://schemas.microsoft.com/office/drawing/2014/main" id="{DEFA6C95-F252-D994-C51E-DE6021EFE817}"/>
              </a:ext>
            </a:extLst>
          </p:cNvPr>
          <p:cNvSpPr txBox="1"/>
          <p:nvPr/>
        </p:nvSpPr>
        <p:spPr>
          <a:xfrm>
            <a:off x="2028334" y="189331"/>
            <a:ext cx="5007824" cy="6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Developments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1E46E-E108-6CA2-9659-80FF3C7108F6}"/>
              </a:ext>
            </a:extLst>
          </p:cNvPr>
          <p:cNvSpPr txBox="1"/>
          <p:nvPr/>
        </p:nvSpPr>
        <p:spPr>
          <a:xfrm>
            <a:off x="420710" y="1195367"/>
            <a:ext cx="8302579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Spiking Neural Networks (SNNs) for brain-like processing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Emergence of neuromorphic chips such as Intel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IBM TrueNorth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AI, robotics, Edge AI, and IoT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memristors as artificial synapses for low-power computing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processing for faster real-time decision making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Advancements in neuromorphic vision sensors and smart devices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focused on overcoming the Von Neumann bottleneck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5">
            <a:extLst>
              <a:ext uri="{FF2B5EF4-FFF2-40B4-BE49-F238E27FC236}">
                <a16:creationId xmlns:a16="http://schemas.microsoft.com/office/drawing/2014/main" id="{F401E1FF-2383-ABA0-D96C-1FB2D447EA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1405" y="253919"/>
            <a:ext cx="3681189" cy="61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Competitors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50BF1-A0D2-A6D4-4B84-0C3E1B19C5EF}"/>
              </a:ext>
            </a:extLst>
          </p:cNvPr>
          <p:cNvSpPr txBox="1"/>
          <p:nvPr/>
        </p:nvSpPr>
        <p:spPr>
          <a:xfrm>
            <a:off x="418563" y="1291310"/>
            <a:ext cx="837510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– Developed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neuromorphic processor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– Developed the TrueNorth neurosynaptic chip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Qualcomm – Research in low-power AI and neuromorphic hardware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BrainChip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Developed Akida neuromorphic processor for Edge AI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 Electronics – Research in neuromorphic memory and AI chips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 Inc. – Research in memristor-based neuromorphic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– Advanced AI hardware and GPU-based intelligent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 1"/>
          <p:cNvSpPr/>
          <p:nvPr/>
        </p:nvSpPr>
        <p:spPr>
          <a:xfrm>
            <a:off x="1911240" y="136800"/>
            <a:ext cx="672876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IN" sz="36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Sustainability &amp; Societal Concerns</a:t>
            </a:r>
            <a:endParaRPr kumimoji="0" lang="en-IN" sz="36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A7B69-BE43-DCDF-61E6-E7A123B58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15" y="1274714"/>
            <a:ext cx="852152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Reduces energy consumption compared to traditional GPU-based AI systems.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Supports green computing and sustainable AI development.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Helps in healthcare through assistive robotics and medical diagnosis.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Improves accessibility for disabled individuals using intelligent systems.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Raises ethical concerns regarding privacy and autonomous decision-making.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Requires responsible AI development for societal benefit.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7B9E22-B153-DB99-49D7-8600F5FB909B}"/>
              </a:ext>
            </a:extLst>
          </p:cNvPr>
          <p:cNvSpPr txBox="1">
            <a:spLocks/>
          </p:cNvSpPr>
          <p:nvPr/>
        </p:nvSpPr>
        <p:spPr>
          <a:xfrm>
            <a:off x="3084980" y="200198"/>
            <a:ext cx="2774908" cy="63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F3EFA-448A-BBB9-5D8E-2287F7FC28D2}"/>
              </a:ext>
            </a:extLst>
          </p:cNvPr>
          <p:cNvSpPr txBox="1"/>
          <p:nvPr/>
        </p:nvSpPr>
        <p:spPr>
          <a:xfrm>
            <a:off x="528034" y="909487"/>
            <a:ext cx="8345510" cy="411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brain-inspired intelligent computing model using Neuromorphic Computing concepts.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Spiking Neural Networks (SNNs) for event-driven signal processing and real-time decision making.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neuromorphic processors such as Intel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Loihi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low-power AI computation.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system architecture integrating: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Sensors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SNN-based Neuromorphic Processor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Output System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advantages of neuromorphic systems over traditional Von Neumann architecture in terms of speed, power efficiency, and parallel processing.</a:t>
            </a:r>
          </a:p>
        </p:txBody>
      </p:sp>
    </p:spTree>
    <p:extLst>
      <p:ext uri="{BB962C8B-B14F-4D97-AF65-F5344CB8AC3E}">
        <p14:creationId xmlns:p14="http://schemas.microsoft.com/office/powerpoint/2010/main" val="398888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3;p10">
            <a:extLst>
              <a:ext uri="{FF2B5EF4-FFF2-40B4-BE49-F238E27FC236}">
                <a16:creationId xmlns:a16="http://schemas.microsoft.com/office/drawing/2014/main" id="{C701CD52-61D5-D581-928D-7DEC4BC9CE48}"/>
              </a:ext>
            </a:extLst>
          </p:cNvPr>
          <p:cNvSpPr txBox="1">
            <a:spLocks/>
          </p:cNvSpPr>
          <p:nvPr/>
        </p:nvSpPr>
        <p:spPr>
          <a:xfrm>
            <a:off x="1835675" y="185629"/>
            <a:ext cx="534202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0815E-A29B-9ECF-265E-612AE401F589}"/>
              </a:ext>
            </a:extLst>
          </p:cNvPr>
          <p:cNvSpPr txBox="1"/>
          <p:nvPr/>
        </p:nvSpPr>
        <p:spPr>
          <a:xfrm>
            <a:off x="339144" y="1114198"/>
            <a:ext cx="8555864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Computing is an emerging brain-inspired computing technology designed to overcome the limitations of traditional computing systems.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low-power, real-time, and efficient intelligent processing using artificial neurons and Spiking Neural Networks (SNNs).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systems have significant applications in AI, robotics, healthcare, autonomous vehicles, and Edge AI.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is expected to play a major role in the future development of next-generation intelligent computing systems.</a:t>
            </a:r>
          </a:p>
        </p:txBody>
      </p:sp>
    </p:spTree>
    <p:extLst>
      <p:ext uri="{BB962C8B-B14F-4D97-AF65-F5344CB8AC3E}">
        <p14:creationId xmlns:p14="http://schemas.microsoft.com/office/powerpoint/2010/main" val="107475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72;p8"/>
          <p:cNvSpPr/>
          <p:nvPr/>
        </p:nvSpPr>
        <p:spPr>
          <a:xfrm>
            <a:off x="311940" y="1159531"/>
            <a:ext cx="8520120" cy="38675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Kudithipudi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Schuman, C. M. Vineyard, T. Pandit, C. Merkel, R. Kubendran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“Neuromorphic computing at scale,”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637, no. 8047, pp. 801–812, 2025.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10.1038/s41586-024-08253-8.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B. Jung, “Neuromorphic Computing – An Overview,”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arXiv:2510.06721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A. Yousefzadeh, “Neuromorphic Edge Computing: Challenges, Opportunities and Current Trends,”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Eindhoven University of Technology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Furber, “Neuromorphic Computing and Applications: A Topical Review,”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Wiley Interdisciplinary Reviews: Data Mining and Knowledge Discovery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H. Wang and Y. Chen, “Device and Circuit Perspectives for Neuromorphic Computing,”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Today Electronics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2025.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Kumar and R. Singh, “Emerging Memory Devices for Neuromorphic Computing in the Internet of Medical Things,”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Medicine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5, no. 2, 2025.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A. Frontiers, “Neuromorphic Algorithms for Brain Implants: A Review,”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Neuroscience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19, 2025.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X. Wang, “Neuromorphic Computing: Cutting-Edge Advances and Future Directions,”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IntechOpen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Google Shape;83;p10"/>
          <p:cNvSpPr/>
          <p:nvPr/>
        </p:nvSpPr>
        <p:spPr>
          <a:xfrm>
            <a:off x="1835640" y="185760"/>
            <a:ext cx="5341680" cy="5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600" b="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References</a:t>
            </a:r>
            <a:endParaRPr lang="en-IN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E74FD-8BCE-5B5B-7331-2D41271F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72;p8">
            <a:extLst>
              <a:ext uri="{FF2B5EF4-FFF2-40B4-BE49-F238E27FC236}">
                <a16:creationId xmlns:a16="http://schemas.microsoft.com/office/drawing/2014/main" id="{21A5BBCC-7C07-A863-CD74-870C9332260C}"/>
              </a:ext>
            </a:extLst>
          </p:cNvPr>
          <p:cNvSpPr/>
          <p:nvPr/>
        </p:nvSpPr>
        <p:spPr>
          <a:xfrm>
            <a:off x="311940" y="953470"/>
            <a:ext cx="8520120" cy="39490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J. Li, Y. Zhang, and P. Kumar, “Recent Progress in Neuromorphic Computing: From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Memristive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 to Neuromorphic Chips,” 2024.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L. Shastri and B. Prucnal, “Photonic Neuromorphic Computing: Recent Advances and Challenges,”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Light: Science &amp; Applications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2024.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M. Sharma and P. Verma, “Reconfigurable Memristor-Based Architectures for Neuromorphic Computing,”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Nanotechnology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H. Zhang, “Optoelectronic Synaptic Devices for Neuromorphic Computing,”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Intelligent Systems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1, 2024.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Y. Chen and S. Das, “2D Material Based Synaptic Devices for Neuromorphic Computing,”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Materials Chemistry C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2024.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R. Gupta and A. Sharma, “A Bibliometric Review of Neuromorphic Computing and Spiking Neural Networks,”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arXiv:2304.06897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Y.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Tavanaei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Maida, “Training Deep Spiking Neural Networks: Challenges and Methods,”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arXiv:2303.04073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F. Corradi, “Neuromorphic Computing for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Neuroprosthesis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Neuroscience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17, 2023.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Y.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Tavanaei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Ghodrati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R.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Kheradpisheh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Masquelier, and A. Maida, “Deep learning in spiking neural networks,”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111, pp. 47–63, 2022.</a:t>
            </a:r>
          </a:p>
        </p:txBody>
      </p:sp>
      <p:sp>
        <p:nvSpPr>
          <p:cNvPr id="67" name="Google Shape;83;p10">
            <a:extLst>
              <a:ext uri="{FF2B5EF4-FFF2-40B4-BE49-F238E27FC236}">
                <a16:creationId xmlns:a16="http://schemas.microsoft.com/office/drawing/2014/main" id="{19963780-0911-B097-E5B6-AE980A0B3C10}"/>
              </a:ext>
            </a:extLst>
          </p:cNvPr>
          <p:cNvSpPr/>
          <p:nvPr/>
        </p:nvSpPr>
        <p:spPr>
          <a:xfrm>
            <a:off x="1835640" y="185760"/>
            <a:ext cx="5341680" cy="5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600" b="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References</a:t>
            </a:r>
            <a:endParaRPr lang="en-IN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380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7545-445C-50CC-ACF9-799385DB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72;p8">
            <a:extLst>
              <a:ext uri="{FF2B5EF4-FFF2-40B4-BE49-F238E27FC236}">
                <a16:creationId xmlns:a16="http://schemas.microsoft.com/office/drawing/2014/main" id="{AF9EE483-8B79-0742-1AA1-C52750989F97}"/>
              </a:ext>
            </a:extLst>
          </p:cNvPr>
          <p:cNvSpPr/>
          <p:nvPr/>
        </p:nvSpPr>
        <p:spPr>
          <a:xfrm>
            <a:off x="311760" y="983520"/>
            <a:ext cx="8520120" cy="38675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C. D. Schuman, T. E. Potok, R. Patton, J. Birdwell, M. Dean, G. Rose, and J. S. Plank, “A Survey on Neuromorphic Computing: Models and Hardware,” 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arXiv:2206.06682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G.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Indiveri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C. Liu, “Opportunities for Neuromorphic Computing Algorithms and Applications,”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601, pp. 45–53, 2022.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M. Prezioso and D.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Kuzum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“Essential Characteristics of Memristors for Neuromorphic Computing,”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Electronics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5, pp. 123–134, 2022.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D. V. Christensen, R. Dittmann, B. Linares-Barranco, A. Sebastian, M. Le Gallo, A. Redaelli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“2022 Roadmap on Neuromorphic Computing and Engineering,”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Computing and Engineering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2, 022501, 2022.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M. Davies, N. Srinivasa, T. H. Lin, G. Chinya, Y. Cao, S. H. Choday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Loihi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Neuromorphic Manycore Processor with On-Chip Learning,”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Micro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38, no. 1, pp. 82–99, 2018.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P. A. Merolla, J. V. Arthur, R. Alvarez-Icaza, A. Cassidy, J. Sawada, F. Akopyan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“A million spiking-neuron integrated circuit with a scalable communication network and interface,”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345, no. 6197, pp. 668–673, 2014.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BrainChip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Inc., “Akida Neuromorphic Processor for Edge AI Systems,” 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BrainChip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Whitepaper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 Q. Xia and J. J. Yang, “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Memristive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Synapses for Neuromorphic Computing,”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Materials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20, pp. 309–323, 2021.</a:t>
            </a:r>
          </a:p>
        </p:txBody>
      </p:sp>
      <p:sp>
        <p:nvSpPr>
          <p:cNvPr id="67" name="Google Shape;83;p10">
            <a:extLst>
              <a:ext uri="{FF2B5EF4-FFF2-40B4-BE49-F238E27FC236}">
                <a16:creationId xmlns:a16="http://schemas.microsoft.com/office/drawing/2014/main" id="{A5BCAD49-25E7-0B78-0DB9-B633E1117D63}"/>
              </a:ext>
            </a:extLst>
          </p:cNvPr>
          <p:cNvSpPr/>
          <p:nvPr/>
        </p:nvSpPr>
        <p:spPr>
          <a:xfrm>
            <a:off x="1835640" y="185760"/>
            <a:ext cx="5341680" cy="5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600" b="0" strike="noStrike" spc="-1" dirty="0">
                <a:solidFill>
                  <a:schemeClr val="dk1"/>
                </a:solidFill>
                <a:latin typeface="Times New Roman"/>
                <a:ea typeface="Times New Roman"/>
              </a:rPr>
              <a:t>References</a:t>
            </a:r>
            <a:endParaRPr lang="en-IN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19434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1393</Words>
  <Application>Microsoft Office PowerPoint</Application>
  <PresentationFormat>On-screen Show (16:9)</PresentationFormat>
  <Paragraphs>96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Symbol</vt:lpstr>
      <vt:lpstr>Times New Roman</vt:lpstr>
      <vt:lpstr>Wingdings</vt:lpstr>
      <vt:lpstr>Simple Light</vt:lpstr>
      <vt:lpstr>1_Simple Light</vt:lpstr>
      <vt:lpstr>Neuromorphic Computing</vt:lpstr>
      <vt:lpstr>Agenda</vt:lpstr>
      <vt:lpstr>PowerPoint Presentation</vt:lpstr>
      <vt:lpstr>PowerPoint Presentation</vt:lpstr>
      <vt:lpstr>Key Competitors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user1</dc:creator>
  <cp:lastModifiedBy>C T Ullas</cp:lastModifiedBy>
  <cp:revision>7</cp:revision>
  <dcterms:modified xsi:type="dcterms:W3CDTF">2026-05-17T11:57:04Z</dcterms:modified>
</cp:coreProperties>
</file>